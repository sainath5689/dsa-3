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0300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E3A5F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645920" y="4572000"/>
            <a:ext cx="3840480" cy="3840480"/>
          </a:xfrm>
          <a:prstGeom prst="ellipse">
            <a:avLst/>
          </a:prstGeom>
          <a:solidFill>
            <a:srgbClr val="2E86AB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3FA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SEMESTER PROJECT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9692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Near-Duplicate Question Finder</a:t>
            </a:r>
            <a:endParaRPr lang="en-US" sz="4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Q&amp;A Platforms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near-duplicate questions using Rolling Hash and Dynamic Programming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480560"/>
            <a:ext cx="10515600" cy="2011680"/>
          </a:xfrm>
          <a:prstGeom prst="roundRect">
            <a:avLst>
              <a:gd name="adj" fmla="val 3636"/>
            </a:avLst>
          </a:prstGeom>
          <a:solidFill>
            <a:srgbClr val="1E3A5F">
              <a:alpha val="90000"/>
            </a:srgbClr>
          </a:solidFill>
          <a:ln w="12700">
            <a:solidFill>
              <a:srgbClr val="3551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143000" y="469087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1 Name:  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L. Sainath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50932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Number:        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2520090148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" y="549554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2 Name:  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Naman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3000" y="5897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Number:        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2520090194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63640" y="469087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Department: 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CS&amp;IT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63640" y="50932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- III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63640" y="549554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Name: 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Chandusha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63640" y="5897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University: 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KLH Deemed to be University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00297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11277295" cy="3337560"/>
          </a:xfrm>
          <a:prstGeom prst="roundRect">
            <a:avLst>
              <a:gd name="adj" fmla="val 1644"/>
            </a:avLst>
          </a:prstGeom>
          <a:solidFill>
            <a:srgbClr val="EAF2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22960" y="1600200"/>
            <a:ext cx="10545775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445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platforms often contain many duplicate or nearly identical questions, which are difficult to identify manually. This project proposes a system that uses k-shingling to break each question into smaller overlapping word groups and applies double polynomial rolling hashing to generate fingerprints for these groups. Hash-based filtering is then used to quickly shortlist candidate question pairs that may be duplicates. Finally, exact common-substring analysis, implemented using dynamic programming, verifies the true similarity between candidates. Together, these techniques aim to improve the efficiency and accuracy of duplicate question detection on Q&amp;A platforms.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4892040"/>
            <a:ext cx="2613584" cy="594360"/>
          </a:xfrm>
          <a:prstGeom prst="roundRect">
            <a:avLst>
              <a:gd name="adj" fmla="val 49231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4892040"/>
            <a:ext cx="2613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K-Shingling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45104" y="4892040"/>
            <a:ext cx="2613584" cy="594360"/>
          </a:xfrm>
          <a:prstGeom prst="roundRect">
            <a:avLst>
              <a:gd name="adj" fmla="val 49231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345104" y="4892040"/>
            <a:ext cx="2613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Hash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33008" y="4892040"/>
            <a:ext cx="2613584" cy="594360"/>
          </a:xfrm>
          <a:prstGeom prst="roundRect">
            <a:avLst>
              <a:gd name="adj" fmla="val 49231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233008" y="4892040"/>
            <a:ext cx="2613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Filtering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120911" y="4892040"/>
            <a:ext cx="2613584" cy="594360"/>
          </a:xfrm>
          <a:prstGeom prst="roundRect">
            <a:avLst>
              <a:gd name="adj" fmla="val 49231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120911" y="4892040"/>
            <a:ext cx="2613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Verification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Near-Duplicate Question Finder for Q&amp;A Platforms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00297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5349240" cy="2331720"/>
          </a:xfrm>
          <a:prstGeom prst="roundRect">
            <a:avLst>
              <a:gd name="adj" fmla="val 2353"/>
            </a:avLst>
          </a:prstGeom>
          <a:solidFill>
            <a:srgbClr val="EAF2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31520" y="144475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1847088"/>
            <a:ext cx="48463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websites contain many repeated or similar questions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users ask the same question using different words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questions create redundant information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every question to every other is inefficient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80760" y="1280160"/>
            <a:ext cx="5650992" cy="2331720"/>
          </a:xfrm>
          <a:prstGeom prst="roundRect">
            <a:avLst>
              <a:gd name="adj" fmla="val 2353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355080" y="144475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355080" y="1874520"/>
            <a:ext cx="51206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near-duplicate questions accurately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unnecessary pairwise comparisons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possible duplicates with confidence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794760"/>
            <a:ext cx="11277295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5875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31520" y="395020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4343400"/>
            <a:ext cx="5074920" cy="1005840"/>
          </a:xfrm>
          <a:prstGeom prst="roundRect">
            <a:avLst>
              <a:gd name="adj" fmla="val 4545"/>
            </a:avLst>
          </a:prstGeom>
          <a:solidFill>
            <a:srgbClr val="EAF2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14400" y="43434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 </a:t>
            </a:r>
            <a:r>
              <a:rPr lang="en-US" sz="1250" i="1" dirty="0">
                <a:solidFill>
                  <a:srgbClr val="445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can I reverse a string in Java?"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35040" y="4343400"/>
            <a:ext cx="5696712" cy="1005840"/>
          </a:xfrm>
          <a:prstGeom prst="roundRect">
            <a:avLst>
              <a:gd name="adj" fmla="val 4545"/>
            </a:avLst>
          </a:prstGeom>
          <a:solidFill>
            <a:srgbClr val="EAF2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217920" y="434340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 </a:t>
            </a:r>
            <a:r>
              <a:rPr lang="en-US" sz="1250" i="1" dirty="0">
                <a:solidFill>
                  <a:srgbClr val="445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the best way to reverse a String using Java?"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31520" y="5486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445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questions are nearly identical in meaning, even though the wording is different.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Near-Duplicate Question Finder for Q&amp;A Platforms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00297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&amp; Hardware Requirements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5455768" cy="4892040"/>
          </a:xfrm>
          <a:prstGeom prst="roundRect">
            <a:avLst>
              <a:gd name="adj" fmla="val 1121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31520" y="1709928"/>
            <a:ext cx="502920" cy="502920"/>
          </a:xfrm>
          <a:prstGeom prst="ellipse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709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71600" y="1709928"/>
            <a:ext cx="37184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4815688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programming language</a:t>
            </a:r>
            <a:endParaRPr lang="en-US" sz="140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JDK 17 or later</a:t>
            </a:r>
            <a:endParaRPr lang="en-US" sz="140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IDE: VS Code / IntelliJ IDEA / Eclipse</a:t>
            </a:r>
            <a:endParaRPr lang="en-US" sz="140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Collections Framework</a:t>
            </a:r>
            <a:endParaRPr lang="en-US" sz="140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TXT dataset for testing</a:t>
            </a:r>
            <a:endParaRPr lang="en-US" sz="140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Windows, Linux, or macOS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78728" y="1417320"/>
            <a:ext cx="5455768" cy="4892040"/>
          </a:xfrm>
          <a:prstGeom prst="roundRect">
            <a:avLst>
              <a:gd name="adj" fmla="val 1121"/>
            </a:avLst>
          </a:prstGeom>
          <a:solidFill>
            <a:srgbClr val="EAF2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553048" y="1709928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553048" y="1709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193128" y="1709928"/>
            <a:ext cx="4267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Requirements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98768" y="2468880"/>
            <a:ext cx="4815688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45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Core i3 or equivalent processor</a:t>
            </a:r>
            <a:endParaRPr lang="en-US" sz="140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45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GB RAM minimum</a:t>
            </a:r>
            <a:endParaRPr lang="en-US" sz="140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45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GB free storage space</a:t>
            </a:r>
            <a:endParaRPr lang="en-US" sz="140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45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keyboard and mouse</a:t>
            </a:r>
            <a:endParaRPr lang="en-US" sz="140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45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/ display</a:t>
            </a:r>
            <a:endParaRPr lang="en-US" sz="140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45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connection (optional)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Near-Duplicate Question Finder for Q&amp;A Platforms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00297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7295" cy="283464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78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4457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TF-IDF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4457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Measures word importance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4457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not directly capture substring similarity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4457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Jaccard Similarity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4457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Compares sets of words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4457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require many comparisons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4457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Rabin-Karp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4457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 hashing for pattern matching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4457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 collisions may occur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4457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Rolling Hash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4457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Generates efficient fingerprints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4457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collision handling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4457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Programming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4457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Finds common substrings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4457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require more computation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4434840"/>
            <a:ext cx="11277295" cy="1737360"/>
          </a:xfrm>
          <a:prstGeom prst="roundRect">
            <a:avLst>
              <a:gd name="adj" fmla="val 3158"/>
            </a:avLst>
          </a:prstGeom>
          <a:solidFill>
            <a:srgbClr val="EAF2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777240" y="459028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1500" dirty="0"/>
          </a:p>
        </p:txBody>
      </p:sp>
      <p:sp>
        <p:nvSpPr>
          <p:cNvPr id="3" name="Text 3"/>
          <p:cNvSpPr/>
          <p:nvPr/>
        </p:nvSpPr>
        <p:spPr>
          <a:xfrm>
            <a:off x="777240" y="4956048"/>
            <a:ext cx="1063721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445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methods can either be computationally expensive or may produce false matches. This project combines rolling-hash-based filtering with exact substring verification to achieve efficient and reliable near-duplicate detection.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Near-Duplicate Question Finder for Q&amp;A Platforms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00297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621128" y="1234440"/>
            <a:ext cx="6949440" cy="566928"/>
          </a:xfrm>
          <a:prstGeom prst="roundRect">
            <a:avLst>
              <a:gd name="adj" fmla="val 12903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941168" y="1234440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Input Questions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CF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questions collected from the Q&amp;A platform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13552" y="1810512"/>
            <a:ext cx="164592" cy="128016"/>
          </a:xfrm>
          <a:prstGeom prst="downArrow">
            <a:avLst/>
          </a:prstGeom>
          <a:solidFill>
            <a:srgbClr val="9FB7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621128" y="1947672"/>
            <a:ext cx="6949440" cy="566928"/>
          </a:xfrm>
          <a:prstGeom prst="roundRect">
            <a:avLst>
              <a:gd name="adj" fmla="val 12903"/>
            </a:avLst>
          </a:prstGeom>
          <a:solidFill>
            <a:srgbClr val="2E4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941168" y="1947672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Preprocessing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CF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lowercase, remove unnecessary punctuation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013552" y="2523744"/>
            <a:ext cx="164592" cy="128016"/>
          </a:xfrm>
          <a:prstGeom prst="downArrow">
            <a:avLst/>
          </a:prstGeom>
          <a:solidFill>
            <a:srgbClr val="9FB7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621128" y="2660904"/>
            <a:ext cx="6949440" cy="566928"/>
          </a:xfrm>
          <a:prstGeom prst="roundRect">
            <a:avLst>
              <a:gd name="adj" fmla="val 12903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941168" y="2660904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K-Shingling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CF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each question into overlapping k-word groups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013552" y="3236976"/>
            <a:ext cx="164592" cy="128016"/>
          </a:xfrm>
          <a:prstGeom prst="downArrow">
            <a:avLst/>
          </a:prstGeom>
          <a:solidFill>
            <a:srgbClr val="9FB7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621128" y="3374136"/>
            <a:ext cx="6949440" cy="566928"/>
          </a:xfrm>
          <a:prstGeom prst="roundRect">
            <a:avLst>
              <a:gd name="adj" fmla="val 12903"/>
            </a:avLst>
          </a:prstGeom>
          <a:solidFill>
            <a:srgbClr val="2E4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941168" y="3374136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Double Polynomial Rolling Hash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CF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two hash values (fingerprints) per shingle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013552" y="3950208"/>
            <a:ext cx="164592" cy="128016"/>
          </a:xfrm>
          <a:prstGeom prst="downArrow">
            <a:avLst/>
          </a:prstGeom>
          <a:solidFill>
            <a:srgbClr val="9FB7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621128" y="4087368"/>
            <a:ext cx="6949440" cy="566928"/>
          </a:xfrm>
          <a:prstGeom prst="roundRect">
            <a:avLst>
              <a:gd name="adj" fmla="val 12903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941168" y="4087368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Candidate Filtering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CF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hash fingerprints to shortlist similar questions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013552" y="4663440"/>
            <a:ext cx="164592" cy="128016"/>
          </a:xfrm>
          <a:prstGeom prst="downArrow">
            <a:avLst/>
          </a:prstGeom>
          <a:solidFill>
            <a:srgbClr val="9FB7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2621128" y="4800600"/>
            <a:ext cx="6949440" cy="566928"/>
          </a:xfrm>
          <a:prstGeom prst="roundRect">
            <a:avLst>
              <a:gd name="adj" fmla="val 12903"/>
            </a:avLst>
          </a:prstGeom>
          <a:solidFill>
            <a:srgbClr val="2E4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941168" y="4800600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Exact Verification (DP)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CF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Longest Common Substring using Dynamic Programming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013552" y="5376672"/>
            <a:ext cx="164592" cy="128016"/>
          </a:xfrm>
          <a:prstGeom prst="downArrow">
            <a:avLst/>
          </a:prstGeom>
          <a:solidFill>
            <a:srgbClr val="9FB7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21128" y="5513832"/>
            <a:ext cx="6949440" cy="566928"/>
          </a:xfrm>
          <a:prstGeom prst="roundRect">
            <a:avLst>
              <a:gd name="adj" fmla="val 12903"/>
            </a:avLst>
          </a:prstGeom>
          <a:solidFill>
            <a:srgbClr val="2E86A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2941168" y="5513832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Duplicate / Not Duplicate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CF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decision based on similarity threshold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Near-Duplicate Question Finder for Q&amp;A Platforms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00297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Algorithms Used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80744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13807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1325880"/>
            <a:ext cx="102714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K-Shingling  —  </a:t>
            </a:r>
            <a:r>
              <a:rPr lang="en-US" sz="1400" dirty="0">
                <a:solidFill>
                  <a:srgbClr val="445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questions into overlapping k-word sequences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2093976"/>
            <a:ext cx="10271455" cy="0"/>
          </a:xfrm>
          <a:prstGeom prst="line">
            <a:avLst/>
          </a:prstGeom>
          <a:noFill/>
          <a:ln w="12700">
            <a:solidFill>
              <a:srgbClr val="E3EA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48640" y="2221992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48640" y="22219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2167128"/>
            <a:ext cx="102714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Rabin-Karp / Rolling Hash  —  </a:t>
            </a:r>
            <a:r>
              <a:rPr lang="en-US" sz="1400" dirty="0">
                <a:solidFill>
                  <a:srgbClr val="445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numerical fingerprints for the shingles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371600" y="2935224"/>
            <a:ext cx="10271455" cy="0"/>
          </a:xfrm>
          <a:prstGeom prst="line">
            <a:avLst/>
          </a:prstGeom>
          <a:noFill/>
          <a:ln w="12700">
            <a:solidFill>
              <a:srgbClr val="E3EA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48640" y="306324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48640" y="3063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0" y="3008376"/>
            <a:ext cx="102714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Hashing  —  </a:t>
            </a:r>
            <a:r>
              <a:rPr lang="en-US" sz="1400" dirty="0">
                <a:solidFill>
                  <a:srgbClr val="445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two hash values to reduce the chance of collisions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371600" y="3776472"/>
            <a:ext cx="10271455" cy="0"/>
          </a:xfrm>
          <a:prstGeom prst="line">
            <a:avLst/>
          </a:prstGeom>
          <a:noFill/>
          <a:ln w="12700">
            <a:solidFill>
              <a:srgbClr val="E3EA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48640" y="3904488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48640" y="3904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3849624"/>
            <a:ext cx="102714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Programming  —  </a:t>
            </a:r>
            <a:r>
              <a:rPr lang="en-US" sz="1400" dirty="0">
                <a:solidFill>
                  <a:srgbClr val="445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Longest Common Substring between candidate questions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371600" y="4617720"/>
            <a:ext cx="10271455" cy="0"/>
          </a:xfrm>
          <a:prstGeom prst="line">
            <a:avLst/>
          </a:prstGeom>
          <a:noFill/>
          <a:ln w="12700">
            <a:solidFill>
              <a:srgbClr val="E3EA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548640" y="4745736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48640" y="47457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71600" y="4690872"/>
            <a:ext cx="102714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Decision  —  </a:t>
            </a:r>
            <a:r>
              <a:rPr lang="en-US" sz="1400" dirty="0">
                <a:solidFill>
                  <a:srgbClr val="445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similarity is above a chosen threshold, classify as near duplicates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5623560"/>
            <a:ext cx="11277295" cy="566928"/>
          </a:xfrm>
          <a:prstGeom prst="roundRect">
            <a:avLst>
              <a:gd name="adj" fmla="val 50000"/>
            </a:avLst>
          </a:prstGeom>
          <a:solidFill>
            <a:srgbClr val="2E86A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57200" y="5623560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DSA Concepts:  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Substring Search  +  Rabin-Karp / Rolling Hash  +  Dynamic Programming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Near-Duplicate Question Finder for Q&amp;A Platforms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E3A5F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645920" y="4572000"/>
            <a:ext cx="3840480" cy="3840480"/>
          </a:xfrm>
          <a:prstGeom prst="ellipse">
            <a:avLst/>
          </a:prstGeom>
          <a:solidFill>
            <a:srgbClr val="2E86AB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0" y="2331720"/>
            <a:ext cx="121916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342900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Near-Duplicate Question Finder for Q&amp;A Platforms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39776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3FA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663</Words>
  <Application>Microsoft Office PowerPoint</Application>
  <PresentationFormat>Widescreen</PresentationFormat>
  <Paragraphs>120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Sainath Gamer</cp:lastModifiedBy>
  <cp:revision>2</cp:revision>
  <dcterms:created xsi:type="dcterms:W3CDTF">2026-08-18T03:36:07Z</dcterms:created>
  <dcterms:modified xsi:type="dcterms:W3CDTF">2026-08-18T03:44:32Z</dcterms:modified>
</cp:coreProperties>
</file>